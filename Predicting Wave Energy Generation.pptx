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DM Sans Medium"/>
      <p:regular r:id="rId23"/>
      <p:bold r:id="rId24"/>
      <p:italic r:id="rId25"/>
      <p:boldItalic r:id="rId26"/>
    </p:embeddedFont>
    <p:embeddedFont>
      <p:font typeface="Merriweather"/>
      <p:regular r:id="rId27"/>
      <p:bold r:id="rId28"/>
      <p:italic r:id="rId29"/>
      <p:boldItalic r:id="rId30"/>
    </p:embeddedFont>
    <p:embeddedFont>
      <p:font typeface="DM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A735DE-F6ED-459F-80B5-C1137969325C}">
  <a:tblStyle styleId="{22A735DE-F6ED-459F-80B5-C1137969325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DMSansMedium-bold.fntdata"/><Relationship Id="rId23" Type="http://schemas.openxmlformats.org/officeDocument/2006/relationships/font" Target="fonts/DMSans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Medium-boldItalic.fntdata"/><Relationship Id="rId25" Type="http://schemas.openxmlformats.org/officeDocument/2006/relationships/font" Target="fonts/DMSansMedium-italic.fntdata"/><Relationship Id="rId28" Type="http://schemas.openxmlformats.org/officeDocument/2006/relationships/font" Target="fonts/Merriweather-bold.fntdata"/><Relationship Id="rId27" Type="http://schemas.openxmlformats.org/officeDocument/2006/relationships/font" Target="fonts/Merriweath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regular.fntdata"/><Relationship Id="rId30" Type="http://schemas.openxmlformats.org/officeDocument/2006/relationships/font" Target="fonts/Merriweather-boldItalic.fntdata"/><Relationship Id="rId11" Type="http://schemas.openxmlformats.org/officeDocument/2006/relationships/slide" Target="slides/slide5.xml"/><Relationship Id="rId33" Type="http://schemas.openxmlformats.org/officeDocument/2006/relationships/font" Target="fonts/DMSans-italic.fntdata"/><Relationship Id="rId10" Type="http://schemas.openxmlformats.org/officeDocument/2006/relationships/slide" Target="slides/slide4.xml"/><Relationship Id="rId32" Type="http://schemas.openxmlformats.org/officeDocument/2006/relationships/font" Target="fonts/DM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DM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10" Type="http://schemas.openxmlformats.org/officeDocument/2006/relationships/image" Target="../media/image9.png"/><Relationship Id="rId9" Type="http://schemas.openxmlformats.org/officeDocument/2006/relationships/image" Target="../media/image13.png"/><Relationship Id="rId5" Type="http://schemas.openxmlformats.org/officeDocument/2006/relationships/image" Target="../media/image27.png"/><Relationship Id="rId6" Type="http://schemas.openxmlformats.org/officeDocument/2006/relationships/image" Target="../media/image1.png"/><Relationship Id="rId7" Type="http://schemas.openxmlformats.org/officeDocument/2006/relationships/image" Target="../media/image21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33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6.png"/><Relationship Id="rId6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10" Type="http://schemas.openxmlformats.org/officeDocument/2006/relationships/image" Target="../media/image30.png"/><Relationship Id="rId9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7.png"/><Relationship Id="rId5" Type="http://schemas.openxmlformats.org/officeDocument/2006/relationships/image" Target="../media/image34.png"/><Relationship Id="rId6" Type="http://schemas.openxmlformats.org/officeDocument/2006/relationships/image" Target="../media/image38.png"/><Relationship Id="rId7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91275"/>
            <a:ext cx="11049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80854"/>
            <a:ext cx="11049000" cy="173831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95275" y="1138832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Predicting Wave Energy Generation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5275" y="3028354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A Data-Driven Approach for UAE Renewable Planning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6496050"/>
            <a:ext cx="17430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UOWD Project Presentation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0896600" y="6496050"/>
            <a:ext cx="723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1 of 15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4457104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CSC1323 - MODERN ARTIFICIAL INTELLIGENCE | WINTER 2026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4885729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University of Wollongong in Dubai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71500" y="5338167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Group: Alkhaiyat | Sathik | </a:t>
            </a:r>
            <a:r>
              <a:rPr lang="en-US" sz="12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Saeed </a:t>
            </a:r>
            <a:r>
              <a:rPr b="0" i="0" lang="en-US" sz="1200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| Tulsiyani | Chorera | Imran | </a:t>
            </a:r>
            <a:r>
              <a:rPr lang="en-US" sz="12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Abdulrahman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91275"/>
            <a:ext cx="11049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23479"/>
            <a:ext cx="5238750" cy="356339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INDUSTRY &amp; DOMAIN OVERVIEW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6496050"/>
            <a:ext cx="1095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Domain Research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868025" y="6496050"/>
            <a:ext cx="7524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2 of 15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2185838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Blue Energy: The Next Frontier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2585888"/>
            <a:ext cx="52387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Wave energy remains a high-density renewable resource essential for UAE's Energy Strategy 2050 targets.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123479"/>
            <a:ext cx="5238750" cy="356339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1000125" y="3366938"/>
            <a:ext cx="48101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Market Potential: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Projected growth to $1.2B by 2030 (7.5% CAGR).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00125" y="4119413"/>
            <a:ext cx="48101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UAE Context: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Diversifying beyond solar to ensure 50% clean energy mix.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00125" y="4871888"/>
            <a:ext cx="48101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AI Significance: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Critical for managing the intermittency of maritime power.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91275"/>
            <a:ext cx="11049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50268"/>
            <a:ext cx="3492549" cy="3509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799" y="2150268"/>
            <a:ext cx="3492549" cy="3509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099" y="2150268"/>
            <a:ext cx="3492549" cy="350996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 &amp; MOTIVATION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6496050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Context &amp; Vision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868025" y="6496050"/>
            <a:ext cx="7524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3 of 15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14400" y="3283743"/>
            <a:ext cx="29470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Technical Barrier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14400" y="3779043"/>
            <a:ext cx="2806749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Individual WECs interfere with each other (the "Shadow Effect"), reducing overall farm efficiency by 15-20% if misaligned.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692699" y="3283743"/>
            <a:ext cx="29470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Business Value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692699" y="3779043"/>
            <a:ext cx="2806749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Traditional simulations take weeks. AI-driven forecasting provides real-time ROI assessment for coastal investors.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470999" y="3283743"/>
            <a:ext cx="29470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Success Metrics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470999" y="3779043"/>
            <a:ext cx="2806749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Targeting a reduction in RMSE below 50k and increasing prediction speed by 100x vs. numerical models.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255031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92699" y="255031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70999" y="2550318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91275"/>
            <a:ext cx="11049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07468"/>
            <a:ext cx="5238750" cy="2595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607468"/>
            <a:ext cx="5238750" cy="259556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AI APPLICATIONS IN INDUSTRY (SOTA)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6496050"/>
            <a:ext cx="16478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State-of-the-Art Analysis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0858500" y="64960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4 of 15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14400" y="2950368"/>
            <a:ext cx="478059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Current Techniques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724650" y="2950368"/>
            <a:ext cx="478059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Our Contribution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724650" y="3445668"/>
            <a:ext cx="45529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Bridges the gap by focusing on </a:t>
            </a:r>
            <a:r>
              <a:rPr b="1" i="0" lang="en-US" sz="1425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Spatial Multicollinearity</a:t>
            </a:r>
            <a:r>
              <a:rPr b="0" i="0" lang="en-US" sz="1425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using L2-regularized linear models and Deep Neural Networks to capture complex array interactions.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343025" y="3417093"/>
            <a:ext cx="4124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LSTMs: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Used for temporal forecasting.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343025" y="3898106"/>
            <a:ext cx="4124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Genetic Algs: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Used for layout optimization.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343025" y="4379118"/>
            <a:ext cx="41243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CNNs: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Applied to wave height imagery.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91275"/>
            <a:ext cx="11049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COMPETITIVE LANDSCAPE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71500" y="2436018"/>
            <a:ext cx="11049000" cy="22955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0" name="Google Shape;160;p17"/>
          <p:cNvGraphicFramePr/>
          <p:nvPr/>
        </p:nvGraphicFramePr>
        <p:xfrm>
          <a:off x="571500" y="24360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{22A735DE-F6ED-459F-80B5-C1137969325C}</a:tableStyleId>
              </a:tblPr>
              <a:tblGrid>
                <a:gridCol w="2458050"/>
                <a:gridCol w="3379725"/>
                <a:gridCol w="5211225"/>
              </a:tblGrid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Solution 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Leading Platforms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Our Competitive Edge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Numerical Solvers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WAMIT, ANSYS AQWA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100x faster inference; Low compute cost.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Cloud Platforms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AWS Energy, Microsoft Ocean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Customized for UAE maritime wave frequencies.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Academic SOTA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Transformer-based hybrids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Stable L2 regularization for spatial features.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17"/>
          <p:cNvSpPr txBox="1"/>
          <p:nvPr/>
        </p:nvSpPr>
        <p:spPr>
          <a:xfrm>
            <a:off x="571500" y="5017293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Gap Analysis: Existing solutions lack focus on low-data environments common in new farm sites.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6496050"/>
            <a:ext cx="1285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Market Gap Analysis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0858500" y="64960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5 of 15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71500" y="3593306"/>
            <a:ext cx="245804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3029545" y="3593306"/>
            <a:ext cx="3379737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6409283" y="3593306"/>
            <a:ext cx="5211216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571500" y="4155281"/>
            <a:ext cx="245804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3029545" y="4155281"/>
            <a:ext cx="3379737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6409283" y="4155281"/>
            <a:ext cx="5211216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571500" y="4717256"/>
            <a:ext cx="2458045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3029545" y="4717256"/>
            <a:ext cx="3379737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6409283" y="4717256"/>
            <a:ext cx="5211216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391275"/>
            <a:ext cx="11049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INDUSTRY-SPECIFIC CHALLENGES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71500" y="6496050"/>
            <a:ext cx="1076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Risk &amp; Regulation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0858500" y="64960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6 of 15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2619375" y="2612231"/>
            <a:ext cx="77628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Data Availability: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UAE-specific long-term wave datasets are limited, requiring robust generalization from global (Australian) data.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2619375" y="3364706"/>
            <a:ext cx="77628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Regulatory Compliance: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Models must adhere to UAE Ministry of Infrastructure standards for offshore deployment.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2619375" y="4117181"/>
            <a:ext cx="77628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Cost-Benefit Analysis: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High ROI depends on </a:t>
            </a: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Prediction Accuracy &gt; 90%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to justify deployment risks.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2619375" y="4869656"/>
            <a:ext cx="77628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Privacy: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Sensor data from strategic coastal zones requires secure, ethical handling.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91275"/>
            <a:ext cx="11049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02321"/>
            <a:ext cx="5238750" cy="4005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406675"/>
            <a:ext cx="2506265" cy="67791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TECHNICAL APPROACH &amp; METHODOLOGY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571500" y="6496050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Solution Architecture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0877550" y="6496050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7 of 15</a:t>
            </a:r>
            <a:endParaRPr/>
          </a:p>
        </p:txBody>
      </p:sp>
      <p:pic>
        <p:nvPicPr>
          <p:cNvPr descr="image.png" id="198" name="Google Shape;19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902321"/>
            <a:ext cx="5238750" cy="400570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6381750" y="209222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Advanced Feature Engineering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381750" y="2492275"/>
            <a:ext cx="52387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Utilized a custom </a:t>
            </a:r>
            <a:r>
              <a:rPr b="1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DistanceTransformer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to encode spatial relationships.</a:t>
            </a:r>
            <a:endParaRPr/>
          </a:p>
        </p:txBody>
      </p:sp>
      <p:pic>
        <p:nvPicPr>
          <p:cNvPr descr="image.png" id="201" name="Google Shape;20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606700"/>
            <a:ext cx="2106215" cy="27786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6810375" y="4275087"/>
            <a:ext cx="48101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Algorithm: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Ridge Regression (L2 penalty) for stability.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810375" y="4756100"/>
            <a:ext cx="48101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Deep Learning: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4-Layer MLP with Dropout (0.2).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810375" y="5237112"/>
            <a:ext cx="48101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Scaling: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StandardScaler for numeric convergence.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91275"/>
            <a:ext cx="11049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90378"/>
            <a:ext cx="2430660" cy="1586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44180" y="2790378"/>
            <a:ext cx="2430660" cy="1586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6860" y="2790378"/>
            <a:ext cx="2430660" cy="1586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89541" y="2790378"/>
            <a:ext cx="2430660" cy="158680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WORKFLOW &amp; PIPELINE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571500" y="5139183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Modular Pipeline: Designed for integration with cloud monitoring systems.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571500" y="6496050"/>
            <a:ext cx="12668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Engineering Pipeline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0858500" y="64960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8 of 15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571500" y="3564731"/>
            <a:ext cx="11049000" cy="381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730760" y="3253233"/>
            <a:ext cx="211213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Data Prep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781050" y="3634233"/>
            <a:ext cx="201156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Ingestion of 4 regional CSVs &amp; 5-Fold Splitting.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3603441" y="3253233"/>
            <a:ext cx="211213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Engineering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3653730" y="3634233"/>
            <a:ext cx="201156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Distance calculations &amp; coordinate scaling.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476121" y="3253233"/>
            <a:ext cx="211213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Training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6526410" y="3634233"/>
            <a:ext cx="201156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Hyperparameter tuning via GridSearchCV.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9348802" y="3253233"/>
            <a:ext cx="211213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Validation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9399091" y="3634233"/>
            <a:ext cx="201156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RMSE/MAE checks &amp; Residual Analysis.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391275"/>
            <a:ext cx="11049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RESULTS &amp; BENCHMARKS</a:t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571500" y="488156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Ridge Regression emerged as the most robust model for spatial prediction.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571500" y="6496050"/>
            <a:ext cx="14954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Performance Evaluation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10858500" y="64960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9 of 15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571500" y="1323975"/>
            <a:ext cx="5200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INNOVATION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571500" y="215265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Advancing the SOTA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571500" y="2790825"/>
            <a:ext cx="49530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Our solution introduces a </a:t>
            </a:r>
            <a:r>
              <a:rPr b="1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Spatial-Interaction Layer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within the machine learning pipeline, specifically designed to address multicollinearity in high-density wave arrays.</a:t>
            </a:r>
            <a:endParaRPr/>
          </a:p>
        </p:txBody>
      </p:sp>
      <p:pic>
        <p:nvPicPr>
          <p:cNvPr descr="image.png" id="250" name="Google Shape;25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1000125" y="3938587"/>
            <a:ext cx="4524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Innovation 1: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Distance-matrix feature augmentation.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1000125" y="4419600"/>
            <a:ext cx="4524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Innovation 2: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Region-specific cross-validation.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1000125" y="4900612"/>
            <a:ext cx="4524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Innovation 3: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Optimized L2 penalty for oceanic data.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91275"/>
            <a:ext cx="11049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17018"/>
            <a:ext cx="5238750" cy="2176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817018"/>
            <a:ext cx="5238750" cy="217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LIMITATIONS &amp; LESSONS LEARNED</a:t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571500" y="6496050"/>
            <a:ext cx="1257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Critical Assessment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10848975" y="6496050"/>
            <a:ext cx="7715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11 of 15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914400" y="3159918"/>
            <a:ext cx="478059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Technical Constraints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914400" y="3655218"/>
            <a:ext cx="45529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Model performance varies by region (e.g., Tasmania RMSE was higher due to extreme wave variance). Scaling to 100+ buoys requires distributed training.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724650" y="3159918"/>
            <a:ext cx="478059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Takeaways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6724650" y="3655218"/>
            <a:ext cx="45529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Simpler models (Ridge) often outperform deep learning when spatial correlation is strong and data noise is prevalent.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91275"/>
            <a:ext cx="11049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62063"/>
            <a:ext cx="3492549" cy="28863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799" y="2462063"/>
            <a:ext cx="3492549" cy="28863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099" y="2462063"/>
            <a:ext cx="3492549" cy="288637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RECOMMENDATIONS &amp; FUTURE WORK</a:t>
            </a:r>
            <a:endParaRPr/>
          </a:p>
        </p:txBody>
      </p:sp>
      <p:sp>
        <p:nvSpPr>
          <p:cNvPr id="280" name="Google Shape;280;p24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571500" y="6496050"/>
            <a:ext cx="1219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Strategic Roadmap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10820400" y="6496050"/>
            <a:ext cx="800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12 of 15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914400" y="3607593"/>
            <a:ext cx="29470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Cloud Deployment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914400" y="4010173"/>
            <a:ext cx="2806749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Deploy using Azure ML for real-time monitoring of UAE coastal sensors.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4692699" y="3607593"/>
            <a:ext cx="29470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Genetic Algs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4692699" y="4010173"/>
            <a:ext cx="2806749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Integrate our Ridge predictor with GA for automated buoy layout generation.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8470999" y="3607593"/>
            <a:ext cx="29470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Domain Scaling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8470999" y="4010173"/>
            <a:ext cx="2806749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Adapting the model for offshore solar and hybrid wind-wave farms.</a:t>
            </a:r>
            <a:endParaRPr/>
          </a:p>
        </p:txBody>
      </p:sp>
      <p:pic>
        <p:nvPicPr>
          <p:cNvPr descr="image.png" id="289" name="Google Shape;289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2862113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92699" y="2862113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70999" y="2862113"/>
            <a:ext cx="4000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012775"/>
            <a:ext cx="8572500" cy="483244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 txBox="1"/>
          <p:nvPr/>
        </p:nvSpPr>
        <p:spPr>
          <a:xfrm>
            <a:off x="2395537" y="1774775"/>
            <a:ext cx="74009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Strategic Impact Summary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2571750" y="2660600"/>
            <a:ext cx="7048500" cy="2194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Our project demonstrates that AI can significantly reduce the engineering barriers for marine energy. By aligning with the </a:t>
            </a:r>
            <a:r>
              <a:rPr b="1" i="0" lang="en-US" sz="18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UAE Energy Strategy 2050</a:t>
            </a:r>
            <a:r>
              <a:rPr b="0" i="0" lang="en-US" sz="18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, we provide a blueprint for a sustainable, data-driven maritime economy in the GCC region. Accuracy, interpretability, and speed are now within reach for renewable planners.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91275"/>
            <a:ext cx="11049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6"/>
          <p:cNvSpPr txBox="1"/>
          <p:nvPr/>
        </p:nvSpPr>
        <p:spPr>
          <a:xfrm>
            <a:off x="295275" y="1400175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307" name="Google Shape;307;p26"/>
          <p:cNvSpPr txBox="1"/>
          <p:nvPr/>
        </p:nvSpPr>
        <p:spPr>
          <a:xfrm>
            <a:off x="571500" y="2800350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Thank you for your attention.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571500" y="6496050"/>
            <a:ext cx="13049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Engagement Session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10810875" y="6496050"/>
            <a:ext cx="809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14 of 15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571500" y="4171950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Group Project: CSCI323 - Winter 2026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571500" y="4624387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University of Wollongong in Dubai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571500" y="5076825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7" name="Google Shape;3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91275"/>
            <a:ext cx="11049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REFERENCES</a:t>
            </a:r>
            <a:endParaRPr/>
          </a:p>
        </p:txBody>
      </p:sp>
      <p:sp>
        <p:nvSpPr>
          <p:cNvPr id="320" name="Google Shape;320;p27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/>
          <p:nvPr/>
        </p:nvSpPr>
        <p:spPr>
          <a:xfrm>
            <a:off x="571500" y="2243137"/>
            <a:ext cx="11049000" cy="34194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2" name="Google Shape;322;p27"/>
          <p:cNvGraphicFramePr/>
          <p:nvPr/>
        </p:nvGraphicFramePr>
        <p:xfrm>
          <a:off x="571500" y="22431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{22A735DE-F6ED-459F-80B5-C1137969325C}</a:tableStyleId>
              </a:tblPr>
              <a:tblGrid>
                <a:gridCol w="1745300"/>
                <a:gridCol w="9303700"/>
              </a:tblGrid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Source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Academic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Breiman, L. (2001). "Random forests". Machine Learning, 45(1).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Policy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UAE Ministry of Energy and Infrastructure (2020). "UAE Energy Strategy 2050".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UCI Machine Learning Repository (2019). "Wave Energy Converters Dataset".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Industry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McKinsey Global Survey (2024). "The state of AI in 2024".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56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Research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Falnes, J. (2007). "A review of wave-energy extraction". Marine Structures.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3" name="Google Shape;323;p27"/>
          <p:cNvSpPr txBox="1"/>
          <p:nvPr/>
        </p:nvSpPr>
        <p:spPr>
          <a:xfrm>
            <a:off x="571500" y="6496050"/>
            <a:ext cx="123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End of Presentation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10810875" y="6496050"/>
            <a:ext cx="809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15 of 15</a:t>
            </a:r>
            <a:endParaRPr/>
          </a:p>
        </p:txBody>
      </p:sp>
      <p:sp>
        <p:nvSpPr>
          <p:cNvPr id="325" name="Google Shape;325;p27"/>
          <p:cNvSpPr/>
          <p:nvPr/>
        </p:nvSpPr>
        <p:spPr>
          <a:xfrm>
            <a:off x="571500" y="3400425"/>
            <a:ext cx="1745307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2316807" y="3400425"/>
            <a:ext cx="9303692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571500" y="3962400"/>
            <a:ext cx="1745307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2316807" y="3962400"/>
            <a:ext cx="9303692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7"/>
          <p:cNvSpPr/>
          <p:nvPr/>
        </p:nvSpPr>
        <p:spPr>
          <a:xfrm>
            <a:off x="571500" y="4524375"/>
            <a:ext cx="1745307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7"/>
          <p:cNvSpPr/>
          <p:nvPr/>
        </p:nvSpPr>
        <p:spPr>
          <a:xfrm>
            <a:off x="2316807" y="4524375"/>
            <a:ext cx="9303692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571500" y="5086350"/>
            <a:ext cx="1745307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7"/>
          <p:cNvSpPr/>
          <p:nvPr/>
        </p:nvSpPr>
        <p:spPr>
          <a:xfrm>
            <a:off x="2316807" y="5086350"/>
            <a:ext cx="9303692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7"/>
          <p:cNvSpPr/>
          <p:nvPr/>
        </p:nvSpPr>
        <p:spPr>
          <a:xfrm>
            <a:off x="571500" y="5648325"/>
            <a:ext cx="1745307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7"/>
          <p:cNvSpPr/>
          <p:nvPr/>
        </p:nvSpPr>
        <p:spPr>
          <a:xfrm>
            <a:off x="2316807" y="5648325"/>
            <a:ext cx="9303692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341" name="Google Shape;341;p28"/>
          <p:cNvSpPr/>
          <p:nvPr/>
        </p:nvSpPr>
        <p:spPr>
          <a:xfrm>
            <a:off x="571500" y="11620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571500" y="23669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571500" y="31384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571500" y="39100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571500" y="3128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8"/>
          <p:cNvSpPr/>
          <p:nvPr/>
        </p:nvSpPr>
        <p:spPr>
          <a:xfrm>
            <a:off x="571500" y="3128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571500" y="4672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571500" y="4672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1" name="Google Shape;35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9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8"/>
          <p:cNvSpPr txBox="1"/>
          <p:nvPr/>
        </p:nvSpPr>
        <p:spPr>
          <a:xfrm>
            <a:off x="1666875" y="25169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https://webapi.bnw.ae/uploads/Beautiful_Dubai_62dfc73920.png</a:t>
            </a:r>
            <a:endParaRPr/>
          </a:p>
        </p:txBody>
      </p:sp>
      <p:sp>
        <p:nvSpPr>
          <p:cNvPr id="353" name="Google Shape;353;p28"/>
          <p:cNvSpPr txBox="1"/>
          <p:nvPr/>
        </p:nvSpPr>
        <p:spPr>
          <a:xfrm>
            <a:off x="1666875" y="27503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bnw.ae</a:t>
            </a:r>
            <a:endParaRPr/>
          </a:p>
        </p:txBody>
      </p:sp>
      <p:pic>
        <p:nvPicPr>
          <p:cNvPr descr="image.png" id="354" name="Google Shape;35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8"/>
          <p:cNvSpPr txBox="1"/>
          <p:nvPr/>
        </p:nvSpPr>
        <p:spPr>
          <a:xfrm>
            <a:off x="1666875" y="32885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https://www.physicslab.org/img/83304889-3f29-417e-a77d-013634c2396e.gif</a:t>
            </a:r>
            <a:endParaRPr/>
          </a:p>
        </p:txBody>
      </p:sp>
      <p:sp>
        <p:nvSpPr>
          <p:cNvPr id="356" name="Google Shape;356;p28"/>
          <p:cNvSpPr txBox="1"/>
          <p:nvPr/>
        </p:nvSpPr>
        <p:spPr>
          <a:xfrm>
            <a:off x="1666875" y="35218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www.physicslab.org</a:t>
            </a:r>
            <a:endParaRPr/>
          </a:p>
        </p:txBody>
      </p:sp>
      <p:pic>
        <p:nvPicPr>
          <p:cNvPr descr="image.png" id="357" name="Google Shape;35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8"/>
          <p:cNvSpPr txBox="1"/>
          <p:nvPr/>
        </p:nvSpPr>
        <p:spPr>
          <a:xfrm>
            <a:off x="1666875" y="40600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https://framerusercontent.com/images/aZW0MrFDu8LFrU2iSYHOIpI8E.png</a:t>
            </a:r>
            <a:endParaRPr/>
          </a:p>
        </p:txBody>
      </p:sp>
      <p:sp>
        <p:nvSpPr>
          <p:cNvPr id="359" name="Google Shape;359;p28"/>
          <p:cNvSpPr txBox="1"/>
          <p:nvPr/>
        </p:nvSpPr>
        <p:spPr>
          <a:xfrm>
            <a:off x="1666875" y="42933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www.v7labs.com</a:t>
            </a:r>
            <a:endParaRPr/>
          </a:p>
        </p:txBody>
      </p:sp>
      <p:pic>
        <p:nvPicPr>
          <p:cNvPr descr="image.png" id="360" name="Google Shape;36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24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8"/>
          <p:cNvSpPr txBox="1"/>
          <p:nvPr/>
        </p:nvSpPr>
        <p:spPr>
          <a:xfrm>
            <a:off x="1666875" y="48315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https://aicertswpcdn.blob.core.windows.net/newsportal/2026/03/corporate-sustainability-planning.jpg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1666875" y="50649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www.aicerts.ai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